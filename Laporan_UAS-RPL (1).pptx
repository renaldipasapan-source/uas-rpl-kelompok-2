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7377">
              <a:alpha val="3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14A0A5">
              <a:alpha val="40000"/>
            </a:srgbClr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097280"/>
            <a:ext cx="2926080" cy="365760"/>
          </a:xfrm>
          <a:prstGeom prst="roundRect">
            <a:avLst>
              <a:gd name="adj" fmla="val 12500"/>
            </a:avLst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REKAYASA PERANGKAT LUNAK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Software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Informasi Peminjaman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 dan Ruangan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943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40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 Kebutuhan  ·  Metode Agile  ·  Use Case  ·  ERD  ·  Desain UI/UX  ·  Pengujian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PRESENTASI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Quality (HOQ)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Functional Requirements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60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Pengembangan Agile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iteratif &amp; Konteks Aplikasi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703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611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4023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Aktor, Pemetaan, dan Relasi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234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417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325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&amp; ERD Diagram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aktivitas &amp; Struktur database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377440"/>
            <a:ext cx="4114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560320"/>
            <a:ext cx="502920" cy="5029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560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4688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UI/UX &amp; Workflow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Flow, Wireframe, Coding, Testing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of Quality (HOQ)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Requirements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50292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55448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0120" y="1554480"/>
            <a:ext cx="480060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55448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Pengguna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52160" y="1554480"/>
            <a:ext cx="96012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79592" y="155448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903720" y="1554480"/>
            <a:ext cx="1005840" cy="320040"/>
          </a:xfrm>
          <a:prstGeom prst="rect">
            <a:avLst/>
          </a:prstGeom>
          <a:solidFill>
            <a:srgbClr val="1E3A5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31152" y="155448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1892808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" y="1892808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0120" y="1892808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189280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pinjam barang mudah dan cepat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892808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79592" y="1892808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1892808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1892808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231136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2231136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60120" y="2231136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2231136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pinjam ruangan mudah dan cepat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2231136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79592" y="2231136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03720" y="2231136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2231136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2569464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3192" y="2569464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60120" y="2569464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" y="2569464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peminjaman transparan dan dapat dipantau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852160" y="2569464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79592" y="2569464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03720" y="2569464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31152" y="2569464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2907792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" y="2907792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60120" y="2907792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87552" y="2907792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approval peminjaman cepat dan jelas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852160" y="2907792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79592" y="2907792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903720" y="2907792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31152" y="2907792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46120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3192" y="324612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960120" y="3246120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87552" y="324612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melaporkan masalah barang/ruangan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52160" y="3246120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79592" y="324612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903720" y="3246120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31152" y="324612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3584448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93192" y="3584448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60120" y="3584448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87552" y="3584448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pengaduan masalah dapat dipantau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852160" y="3584448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79592" y="3584448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03720" y="3584448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31152" y="3584448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3922776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3192" y="3922776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960120" y="3922776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87552" y="3922776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approval pengaduan cepat dan jelas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852160" y="3922776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79592" y="3922776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903720" y="3922776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31152" y="3922776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65760" y="4261104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93192" y="4261104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60120" y="4261104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" y="4261104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barang dan ruangan selalu akurat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852160" y="4261104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79592" y="4261104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03720" y="4261104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31152" y="4261104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65760" y="4599432"/>
            <a:ext cx="5029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" y="4599432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960120" y="4599432"/>
            <a:ext cx="48006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7552" y="4599432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melihat riwayat peminjaman &amp; pengaduan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5852160" y="4599432"/>
            <a:ext cx="96012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79592" y="4599432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6903720" y="4599432"/>
            <a:ext cx="100584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931152" y="4599432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365760" y="4937760"/>
            <a:ext cx="5029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93192" y="4937760"/>
            <a:ext cx="448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960120" y="4937760"/>
            <a:ext cx="48006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87552" y="4937760"/>
            <a:ext cx="47457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aplikasi mudah dipahami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5852160" y="4937760"/>
            <a:ext cx="96012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879592" y="4937760"/>
            <a:ext cx="9052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903720" y="4937760"/>
            <a:ext cx="10058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931152" y="4937760"/>
            <a:ext cx="9509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&amp; Bobot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6576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1463040"/>
            <a:ext cx="3840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Teknis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6400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1783080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783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1783080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autentikasi (role-based)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17720" y="1783080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83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214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121408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21214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barang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2121408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12140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2459736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5973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1520" y="2459736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245973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ruang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17720" y="2459736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17720" y="2459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2798064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79806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2798064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79806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approval Kaprodi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17720" y="2798064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17720" y="279806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3136392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136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31520" y="3136392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31363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status real-time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17720" y="3136392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13639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474720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4747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1520" y="3474720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724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 masalah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17720" y="3474720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1772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3813048"/>
            <a:ext cx="36576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38130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3813048"/>
            <a:ext cx="388620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3813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master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617720" y="3813048"/>
            <a:ext cx="640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381304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4151376"/>
            <a:ext cx="36576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1513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1520" y="4151376"/>
            <a:ext cx="388620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15137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tracking system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17720" y="4151376"/>
            <a:ext cx="640080" cy="320040"/>
          </a:xfrm>
          <a:prstGeom prst="rect">
            <a:avLst/>
          </a:prstGeom>
          <a:solidFill>
            <a:srgbClr val="EBF4F6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17720" y="41513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39496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Prioritas Fitur (Bobot Relatif)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5394960" y="150876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Kaprodi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7178040" y="1563624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78040" y="1563624"/>
            <a:ext cx="1469571" cy="228600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93331" y="150876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394960" y="1938528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Real-time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178040" y="1993392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78040" y="1993392"/>
            <a:ext cx="1352006" cy="228600"/>
          </a:xfrm>
          <a:prstGeom prst="roundRect">
            <a:avLst>
              <a:gd name="adj" fmla="val 16000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75766" y="193852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394960" y="2368296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Barang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7178040" y="2423160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178040" y="2423160"/>
            <a:ext cx="881743" cy="228600"/>
          </a:xfrm>
          <a:prstGeom prst="roundRect">
            <a:avLst>
              <a:gd name="adj" fmla="val 16000"/>
            </a:avLst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05503" y="236829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5394960" y="2798064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Pinjam Ruang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7178040" y="2852928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178040" y="2852928"/>
            <a:ext cx="881743" cy="228600"/>
          </a:xfrm>
          <a:prstGeom prst="roundRect">
            <a:avLst>
              <a:gd name="adj" fmla="val 16000"/>
            </a:avLst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105503" y="2798064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5394960" y="3227832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178040" y="3282696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178040" y="3282696"/>
            <a:ext cx="411480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635240" y="3227832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5394960" y="3657600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Login/Auth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178040" y="3712464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78040" y="3712464"/>
            <a:ext cx="352697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76457" y="3657600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5394960" y="4087368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Master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178040" y="4142232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78040" y="4142232"/>
            <a:ext cx="293914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517674" y="4087368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394960" y="4517136"/>
            <a:ext cx="17373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Track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178040" y="4572000"/>
            <a:ext cx="169164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178040" y="4572000"/>
            <a:ext cx="235131" cy="228600"/>
          </a:xfrm>
          <a:prstGeom prst="roundRect">
            <a:avLst>
              <a:gd name="adj" fmla="val 16000"/>
            </a:avLst>
          </a:prstGeom>
          <a:solidFill>
            <a:srgbClr val="6B8299"/>
          </a:solidFill>
          <a:ln w="12700">
            <a:solidFill>
              <a:srgbClr val="6B82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8891" y="4517136"/>
            <a:ext cx="365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Pengembangan Agile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iteratif &amp; inkremental — membagi proyek ke dalam Sprint (2–4 minggu) untuk menghasilkan perangkat lunak fungsional secara bertahap dengan feedback berkelanjutan dari stakeholder.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947672"/>
            <a:ext cx="457200" cy="4572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dari wawancara Kaprodi, misal alur pinjam barang dengan notifikasi approval otomatis.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9272" y="1947672"/>
            <a:ext cx="457200" cy="4572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6791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927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Rancangan UI/UX: dashboard Peminjam, halaman approval Kaprodi, struktur database barang &amp; ruangan.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94360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1947672"/>
            <a:ext cx="457200" cy="457200"/>
          </a:xfrm>
          <a:prstGeom prst="ellipse">
            <a:avLst/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0819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56832" y="194767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08192" y="244144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fitur login role-based (Peminjam/Admin/Kaprodi), CRUD barang, logika peminjaman.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3502152"/>
            <a:ext cx="457200" cy="45720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7899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coba: tombol Approve → status Peminjam berubah? Admin bisa kirim pengaduan barang rusak?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5468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19272" y="3502152"/>
            <a:ext cx="457200" cy="45720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86791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1927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ke server/hosting agar Peminjam, Admin, dan Kaprodi dapat mengakses via web / mobile.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33375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08192" y="3502152"/>
            <a:ext cx="457200" cy="457200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08192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56832" y="3502152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08192" y="3995928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Kaprodi: tampilan approval mudah? Admin: input barang sudah efisien? → sprint berikutnya.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/ Dosen &amp; Staff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barang/ruangan, pengaduan, cek status &amp; riwayat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Kaprodi / Head Lab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&amp; Approve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Permohonan peminjaman dan pengaduan masalah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126480" y="11430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8B2FC9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1887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master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Barang, ruangan, tipe barang, daftar peminjaman &amp; pengaduan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286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Use Case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Semua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37160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(include semua UC)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461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37160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Barang → Form Barang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6118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03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703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371600" y="3611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Pinjam Ruang → Form Ruang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40690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1605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1E3A5F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Peminjam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371600" y="4069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Masalah → Form Pengaduan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6177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D7377">
              <a:alpha val="8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6177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Kaprodi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371600" y="45262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Pinjam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26974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27889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0D7377">
              <a:alpha val="8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27889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Kaprodi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06440" y="26974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Pengaduan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1546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32461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32461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806440" y="31546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Pinjam → List Pinjam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6118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92040" y="37033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3703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806440" y="36118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Pengaduan → List Pengaduan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0600" y="4069080"/>
            <a:ext cx="42062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92040" y="4160520"/>
            <a:ext cx="822960" cy="201168"/>
          </a:xfrm>
          <a:prstGeom prst="roundRect">
            <a:avLst>
              <a:gd name="adj" fmla="val 18182"/>
            </a:avLst>
          </a:prstGeom>
          <a:solidFill>
            <a:srgbClr val="8B2FC9">
              <a:alpha val="80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4892040" y="41605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Admin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06440" y="406908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Barang/Ruangan/Tipe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&amp; ERD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199339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9933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Barang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40864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3408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Ruang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688336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6883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Pengaduan Masalah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35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Pinjaman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83280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383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Pengaduan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(CRUD)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78224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14A0A5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40782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Riwayat Peminjaman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3749040" cy="274320"/>
          </a:xfrm>
          <a:prstGeom prst="roundRect">
            <a:avLst>
              <a:gd name="adj" fmla="val 20000"/>
            </a:avLst>
          </a:pr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4425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Riwayat Pengaduan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097280"/>
            <a:ext cx="411480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– Tabel Utama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164592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1664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87452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nama, tipe_id, kondisi, status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2176272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21945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Barang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40487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nama_tipe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706624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2724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Ruangan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2935224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nama, kapasitas, status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3236976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37" name="Text 35"/>
          <p:cNvSpPr/>
          <p:nvPr/>
        </p:nvSpPr>
        <p:spPr>
          <a:xfrm>
            <a:off x="4892040" y="325526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Peminjaman Barang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92040" y="346557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barang_id, tgl_pinjam, tgl_kembali, status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3767328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8561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Peminjaman Ruangan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399592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ruangan_id, tgl_pinjam, keperluan, status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846320" y="4297680"/>
            <a:ext cx="3749040" cy="457200"/>
          </a:xfrm>
          <a:prstGeom prst="roundRect">
            <a:avLst>
              <a:gd name="adj" fmla="val 12000"/>
            </a:avLst>
          </a:prstGeom>
          <a:solidFill>
            <a:srgbClr val="EBF4F6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43159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Pengaduan Masalah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5262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user_id, deskripsi, foto, status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UI/UX &amp; Workflow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0936" y="1325880"/>
            <a:ext cx="548640" cy="54864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093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20624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Wawancara &amp; survey untuk memahami kebutuhan pengguna dan kebiasaan operasional.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81912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47088" y="1325880"/>
            <a:ext cx="548640" cy="54864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36776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Architecture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36776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struktur navigasi dan bagian-bagian website/aplikasi.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98064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063240" y="1325880"/>
            <a:ext cx="548640" cy="548640"/>
          </a:xfrm>
          <a:prstGeom prst="ellipse">
            <a:avLst/>
          </a:prstGeom>
          <a:solidFill>
            <a:srgbClr val="14A0A5"/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3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852928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852928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Sketsa visual alur informasi—membantu tim desain, konten, dan developer.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014216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79392" y="1325880"/>
            <a:ext cx="548640" cy="548640"/>
          </a:xfrm>
          <a:prstGeom prst="ellipse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79392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069080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69080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Mengatur alur penggunaan dengan pendekatan UX agar pengguna nyaman.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30368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95544" y="1325880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285232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komponen UI: ikon, font, warna; dikerjakan paralel dengan developer.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446520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1325880"/>
            <a:ext cx="548640" cy="548640"/>
          </a:xfrm>
          <a:prstGeom prst="ellipse">
            <a:avLst/>
          </a:prstGeom>
          <a:solidFill>
            <a:srgbClr val="8B2FC9"/>
          </a:solidFill>
          <a:ln w="12700">
            <a:solidFill>
              <a:srgbClr val="8B2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116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01384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Pengembangan Produk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501384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developer mulai coding dengan HTML/CSS/JS menggunakan komponen library.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662672" y="1188720"/>
            <a:ext cx="1078992" cy="347472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927848" y="132588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278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717536" y="1965960"/>
            <a:ext cx="9692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Test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17536" y="2514600"/>
            <a:ext cx="96926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diuji sebelum diluncurkan; hasil menjadi bahan evaluasi iterasi berikutnya.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6576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 yang Dimodelkan: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65760" y="49834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· Peminjaman Barang · Peminjaman Ruangan · Pengaduan Masalah · Verifikasi Peminjaman · Verifikasi Pengaduan · CRUD Data · Cek Riwayat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Coding, Database &amp; Pengujian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91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64208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728216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6642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093976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57984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9397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Barang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23744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587752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2374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Ruangan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953512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017520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9535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form_peminjamanbarang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83280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447288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383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form_peminjamanruangan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877056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38130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form_pengaduanmasalah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242816"/>
            <a:ext cx="3657600" cy="347472"/>
          </a:xfrm>
          <a:prstGeom prst="roundRect">
            <a:avLst>
              <a:gd name="adj" fmla="val 13158"/>
            </a:avLst>
          </a:prstGeom>
          <a:solidFill>
            <a:srgbClr val="EBF4F6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306824"/>
            <a:ext cx="73152" cy="21945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2428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0972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Program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46320" y="16002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login: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Peminjam, Admin, Kaprodi
</a:t>
            </a:r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data master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barang, ruangan, pengguna
</a:t>
            </a:r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sistem: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peminjaman eksklusif (tidak double-book)
</a:t>
            </a:r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approval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 ke Kaprodi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 Program &amp; Maintenance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40156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alur approval, pengaduan, dan CRUD
</a:t>
            </a:r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testing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tiap akhir sprint Agile
</a:t>
            </a:r>
            <a:pPr indent="0" marL="0">
              <a:buNone/>
            </a:pPr>
            <a:r>
              <a:rPr lang="en-US" sz="95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Maintenance: </a:t>
            </a:r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 bug, update data master, evaluasi performa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4A0A5">
              <a:alpha val="20000"/>
            </a:srgbClr>
          </a:solidFill>
          <a:ln w="12700">
            <a:solidFill>
              <a:srgbClr val="14A0A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904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4173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HOQ mengidentifikasi 10 kebutuhan pengguna &amp; 8 kebutuhan teknis dengan prioritas utama sistem approval Kaprodi (25%).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21762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1031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Agile memastikan pengembangan iteratif &amp; inkremental dengan feedback berkelanjutan dari Kaprodi sebagai stakeholder utama.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8620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62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7889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 mendefinisikan 3 aktor (Peminjam, Kaprodi, Admin) dengan relasi include/extend yang terstruktur.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478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ERD mencakup 6 tabel utama, mendukung manajemen barang, ruangan, peminjaman, dan pengaduan secara real-time.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4233672"/>
            <a:ext cx="347472" cy="34747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233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✔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416052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UI/UX (Riset → Wireframe → User Flow → Design System → Dev → Testing) memastikan produk yang usable &amp; maintainable.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Pengembangan Software - Sistem Informasi Peminjaman Barang dan Ruangan</dc:title>
  <dc:subject>PptxGenJS Presentation</dc:subject>
  <dc:creator>PptxGenJS</dc:creator>
  <cp:lastModifiedBy>PptxGenJS</cp:lastModifiedBy>
  <cp:revision>1</cp:revision>
  <dcterms:created xsi:type="dcterms:W3CDTF">2026-06-23T04:09:49Z</dcterms:created>
  <dcterms:modified xsi:type="dcterms:W3CDTF">2026-06-23T04:09:49Z</dcterms:modified>
</cp:coreProperties>
</file>